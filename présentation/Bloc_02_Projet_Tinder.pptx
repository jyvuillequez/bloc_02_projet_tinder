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81" r:id="rId4"/>
    <p:sldId id="279" r:id="rId5"/>
    <p:sldId id="272" r:id="rId6"/>
    <p:sldId id="273" r:id="rId7"/>
    <p:sldId id="280" r:id="rId8"/>
    <p:sldId id="274" r:id="rId9"/>
    <p:sldId id="275" r:id="rId10"/>
    <p:sldId id="278" r:id="rId11"/>
    <p:sldId id="271" r:id="rId12"/>
  </p:sldIdLst>
  <p:sldSz cx="9144000" cy="5143500" type="screen16x9"/>
  <p:notesSz cx="6858000" cy="9144000"/>
  <p:embeddedFontLst>
    <p:embeddedFont>
      <p:font typeface="Inter Medium" panose="020B0604020202020204" charset="0"/>
      <p:regular r:id="rId14"/>
      <p:bold r:id="rId15"/>
      <p:italic r:id="rId16"/>
      <p:boldItalic r:id="rId17"/>
    </p:embeddedFont>
    <p:embeddedFont>
      <p:font typeface="Inter SemiBold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9EB"/>
    <a:srgbClr val="F44470"/>
    <a:srgbClr val="41545E"/>
    <a:srgbClr val="0E3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23EAAE-D724-4C8F-87EF-B793B355BE44}" v="64" dt="2026-02-11T16:05:41.6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5036" autoAdjust="0"/>
  </p:normalViewPr>
  <p:slideViewPr>
    <p:cSldViewPr snapToGrid="0">
      <p:cViewPr varScale="1">
        <p:scale>
          <a:sx n="135" d="100"/>
          <a:sy n="135" d="100"/>
        </p:scale>
        <p:origin x="846" y="33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Yves Vuillequez" userId="e7fac481abea6bd0" providerId="LiveId" clId="{79E365E8-22BC-4EC2-9606-9A9AC6CD1D22}"/>
    <pc:docChg chg="undo custSel addSld delSld modSld addMainMaster delMainMaster">
      <pc:chgData name="Jean-Yves Vuillequez" userId="e7fac481abea6bd0" providerId="LiveId" clId="{79E365E8-22BC-4EC2-9606-9A9AC6CD1D22}" dt="2026-02-11T16:05:50.089" v="787" actId="113"/>
      <pc:docMkLst>
        <pc:docMk/>
      </pc:docMkLst>
      <pc:sldChg chg="addSp modSp mod">
        <pc:chgData name="Jean-Yves Vuillequez" userId="e7fac481abea6bd0" providerId="LiveId" clId="{79E365E8-22BC-4EC2-9606-9A9AC6CD1D22}" dt="2026-01-27T13:28:59.221" v="610" actId="1037"/>
        <pc:sldMkLst>
          <pc:docMk/>
          <pc:sldMk cId="0" sldId="256"/>
        </pc:sldMkLst>
        <pc:spChg chg="add mod">
          <ac:chgData name="Jean-Yves Vuillequez" userId="e7fac481abea6bd0" providerId="LiveId" clId="{79E365E8-22BC-4EC2-9606-9A9AC6CD1D22}" dt="2026-01-27T13:28:59.221" v="610" actId="1037"/>
          <ac:spMkLst>
            <pc:docMk/>
            <pc:sldMk cId="0" sldId="256"/>
            <ac:spMk id="3" creationId="{124BAD35-7509-EAFD-F0C5-0C17E26060D0}"/>
          </ac:spMkLst>
        </pc:spChg>
        <pc:spChg chg="mod">
          <ac:chgData name="Jean-Yves Vuillequez" userId="e7fac481abea6bd0" providerId="LiveId" clId="{79E365E8-22BC-4EC2-9606-9A9AC6CD1D22}" dt="2026-01-26T13:26:40.527" v="98"/>
          <ac:spMkLst>
            <pc:docMk/>
            <pc:sldMk cId="0" sldId="256"/>
            <ac:spMk id="54" creationId="{00000000-0000-0000-0000-000000000000}"/>
          </ac:spMkLst>
        </pc:spChg>
        <pc:spChg chg="mod">
          <ac:chgData name="Jean-Yves Vuillequez" userId="e7fac481abea6bd0" providerId="LiveId" clId="{79E365E8-22BC-4EC2-9606-9A9AC6CD1D22}" dt="2026-01-26T13:27:25.683" v="99"/>
          <ac:spMkLst>
            <pc:docMk/>
            <pc:sldMk cId="0" sldId="256"/>
            <ac:spMk id="57" creationId="{00000000-0000-0000-0000-000000000000}"/>
          </ac:spMkLst>
        </pc:spChg>
      </pc:sldChg>
      <pc:sldChg chg="add del">
        <pc:chgData name="Jean-Yves Vuillequez" userId="e7fac481abea6bd0" providerId="LiveId" clId="{79E365E8-22BC-4EC2-9606-9A9AC6CD1D22}" dt="2026-01-16T10:47:03.962" v="33" actId="47"/>
        <pc:sldMkLst>
          <pc:docMk/>
          <pc:sldMk cId="0" sldId="271"/>
        </pc:sldMkLst>
      </pc:sldChg>
      <pc:sldChg chg="addSp delSp modSp add mod modNotesTx">
        <pc:chgData name="Jean-Yves Vuillequez" userId="e7fac481abea6bd0" providerId="LiveId" clId="{79E365E8-22BC-4EC2-9606-9A9AC6CD1D22}" dt="2026-02-03T17:32:13.569" v="708" actId="20577"/>
        <pc:sldMkLst>
          <pc:docMk/>
          <pc:sldMk cId="1877141422" sldId="272"/>
        </pc:sldMkLst>
        <pc:spChg chg="mod">
          <ac:chgData name="Jean-Yves Vuillequez" userId="e7fac481abea6bd0" providerId="LiveId" clId="{79E365E8-22BC-4EC2-9606-9A9AC6CD1D22}" dt="2026-01-26T13:45:52.601" v="263" actId="20577"/>
          <ac:spMkLst>
            <pc:docMk/>
            <pc:sldMk cId="1877141422" sldId="272"/>
            <ac:spMk id="4" creationId="{FD0DCFF6-AAC9-B237-076D-808C0F9F9DEA}"/>
          </ac:spMkLst>
        </pc:spChg>
        <pc:spChg chg="mod">
          <ac:chgData name="Jean-Yves Vuillequez" userId="e7fac481abea6bd0" providerId="LiveId" clId="{79E365E8-22BC-4EC2-9606-9A9AC6CD1D22}" dt="2026-02-03T17:25:35.019" v="649" actId="108"/>
          <ac:spMkLst>
            <pc:docMk/>
            <pc:sldMk cId="1877141422" sldId="272"/>
            <ac:spMk id="68" creationId="{E2BEF10E-249F-CEA5-FFA0-F75151962766}"/>
          </ac:spMkLst>
        </pc:spChg>
        <pc:picChg chg="add mod">
          <ac:chgData name="Jean-Yves Vuillequez" userId="e7fac481abea6bd0" providerId="LiveId" clId="{79E365E8-22BC-4EC2-9606-9A9AC6CD1D22}" dt="2026-01-26T13:41:01.246" v="220" actId="108"/>
          <ac:picMkLst>
            <pc:docMk/>
            <pc:sldMk cId="1877141422" sldId="272"/>
            <ac:picMk id="9" creationId="{67EF8CB4-9048-8902-53BF-8C6E389CF019}"/>
          </ac:picMkLst>
        </pc:picChg>
      </pc:sldChg>
      <pc:sldChg chg="addSp delSp modSp add mod modNotesTx">
        <pc:chgData name="Jean-Yves Vuillequez" userId="e7fac481abea6bd0" providerId="LiveId" clId="{79E365E8-22BC-4EC2-9606-9A9AC6CD1D22}" dt="2026-02-03T17:32:28.876" v="710" actId="20577"/>
        <pc:sldMkLst>
          <pc:docMk/>
          <pc:sldMk cId="81074720" sldId="273"/>
        </pc:sldMkLst>
        <pc:spChg chg="mod">
          <ac:chgData name="Jean-Yves Vuillequez" userId="e7fac481abea6bd0" providerId="LiveId" clId="{79E365E8-22BC-4EC2-9606-9A9AC6CD1D22}" dt="2026-01-27T16:08:02.978" v="625" actId="114"/>
          <ac:spMkLst>
            <pc:docMk/>
            <pc:sldMk cId="81074720" sldId="273"/>
            <ac:spMk id="4" creationId="{F4B25824-BA6C-B96C-1B04-6DDD5ED9411D}"/>
          </ac:spMkLst>
        </pc:spChg>
        <pc:spChg chg="mod">
          <ac:chgData name="Jean-Yves Vuillequez" userId="e7fac481abea6bd0" providerId="LiveId" clId="{79E365E8-22BC-4EC2-9606-9A9AC6CD1D22}" dt="2026-02-03T17:26:11.159" v="662" actId="403"/>
          <ac:spMkLst>
            <pc:docMk/>
            <pc:sldMk cId="81074720" sldId="273"/>
            <ac:spMk id="68" creationId="{9B7DA8C1-660E-6801-65E6-D852627010F7}"/>
          </ac:spMkLst>
        </pc:spChg>
        <pc:picChg chg="add mod modCrop">
          <ac:chgData name="Jean-Yves Vuillequez" userId="e7fac481abea6bd0" providerId="LiveId" clId="{79E365E8-22BC-4EC2-9606-9A9AC6CD1D22}" dt="2026-01-27T16:08:59.413" v="631" actId="108"/>
          <ac:picMkLst>
            <pc:docMk/>
            <pc:sldMk cId="81074720" sldId="273"/>
            <ac:picMk id="6" creationId="{A7B7187D-96D0-268E-DEB5-09CA79D9CF0A}"/>
          </ac:picMkLst>
        </pc:picChg>
      </pc:sldChg>
      <pc:sldChg chg="addSp delSp modSp add mod modNotesTx">
        <pc:chgData name="Jean-Yves Vuillequez" userId="e7fac481abea6bd0" providerId="LiveId" clId="{79E365E8-22BC-4EC2-9606-9A9AC6CD1D22}" dt="2026-02-03T17:33:17.508" v="712" actId="20577"/>
        <pc:sldMkLst>
          <pc:docMk/>
          <pc:sldMk cId="3340924824" sldId="274"/>
        </pc:sldMkLst>
        <pc:spChg chg="mod">
          <ac:chgData name="Jean-Yves Vuillequez" userId="e7fac481abea6bd0" providerId="LiveId" clId="{79E365E8-22BC-4EC2-9606-9A9AC6CD1D22}" dt="2026-01-26T13:56:24.534" v="306"/>
          <ac:spMkLst>
            <pc:docMk/>
            <pc:sldMk cId="3340924824" sldId="274"/>
            <ac:spMk id="4" creationId="{B11BDC3C-FF81-C8DC-561E-2B21D1EC2FC4}"/>
          </ac:spMkLst>
        </pc:spChg>
        <pc:spChg chg="mod">
          <ac:chgData name="Jean-Yves Vuillequez" userId="e7fac481abea6bd0" providerId="LiveId" clId="{79E365E8-22BC-4EC2-9606-9A9AC6CD1D22}" dt="2026-02-03T17:30:11.630" v="705" actId="20577"/>
          <ac:spMkLst>
            <pc:docMk/>
            <pc:sldMk cId="3340924824" sldId="274"/>
            <ac:spMk id="68" creationId="{3F058AF6-E2A2-9494-E357-68E816C7CD80}"/>
          </ac:spMkLst>
        </pc:spChg>
        <pc:picChg chg="add mod">
          <ac:chgData name="Jean-Yves Vuillequez" userId="e7fac481abea6bd0" providerId="LiveId" clId="{79E365E8-22BC-4EC2-9606-9A9AC6CD1D22}" dt="2026-01-26T14:05:28.193" v="338" actId="1076"/>
          <ac:picMkLst>
            <pc:docMk/>
            <pc:sldMk cId="3340924824" sldId="274"/>
            <ac:picMk id="6" creationId="{9CBF50DA-FD64-C920-0AE8-855ED4DB8FBA}"/>
          </ac:picMkLst>
        </pc:picChg>
      </pc:sldChg>
      <pc:sldChg chg="addSp delSp modSp add mod modNotesTx">
        <pc:chgData name="Jean-Yves Vuillequez" userId="e7fac481abea6bd0" providerId="LiveId" clId="{79E365E8-22BC-4EC2-9606-9A9AC6CD1D22}" dt="2026-02-03T17:33:28.665" v="713" actId="20577"/>
        <pc:sldMkLst>
          <pc:docMk/>
          <pc:sldMk cId="2812609542" sldId="275"/>
        </pc:sldMkLst>
        <pc:spChg chg="mod">
          <ac:chgData name="Jean-Yves Vuillequez" userId="e7fac481abea6bd0" providerId="LiveId" clId="{79E365E8-22BC-4EC2-9606-9A9AC6CD1D22}" dt="2026-01-26T14:01:49.357" v="325" actId="313"/>
          <ac:spMkLst>
            <pc:docMk/>
            <pc:sldMk cId="2812609542" sldId="275"/>
            <ac:spMk id="4" creationId="{62694F0D-DE4A-401A-9291-67E22B082B37}"/>
          </ac:spMkLst>
        </pc:spChg>
        <pc:spChg chg="mod">
          <ac:chgData name="Jean-Yves Vuillequez" userId="e7fac481abea6bd0" providerId="LiveId" clId="{79E365E8-22BC-4EC2-9606-9A9AC6CD1D22}" dt="2026-02-03T17:30:45.224" v="706" actId="108"/>
          <ac:spMkLst>
            <pc:docMk/>
            <pc:sldMk cId="2812609542" sldId="275"/>
            <ac:spMk id="68" creationId="{0CA8088E-9917-8491-1C19-E4E7C54D47D8}"/>
          </ac:spMkLst>
        </pc:spChg>
        <pc:picChg chg="add mod modCrop">
          <ac:chgData name="Jean-Yves Vuillequez" userId="e7fac481abea6bd0" providerId="LiveId" clId="{79E365E8-22BC-4EC2-9606-9A9AC6CD1D22}" dt="2026-01-26T14:05:30.704" v="339" actId="108"/>
          <ac:picMkLst>
            <pc:docMk/>
            <pc:sldMk cId="2812609542" sldId="275"/>
            <ac:picMk id="5" creationId="{181F4ADC-AAB2-9E84-66BD-92645BCC4328}"/>
          </ac:picMkLst>
        </pc:picChg>
      </pc:sldChg>
      <pc:sldChg chg="addSp delSp modSp add mod">
        <pc:chgData name="Jean-Yves Vuillequez" userId="e7fac481abea6bd0" providerId="LiveId" clId="{79E365E8-22BC-4EC2-9606-9A9AC6CD1D22}" dt="2026-02-03T17:33:43.959" v="715" actId="108"/>
        <pc:sldMkLst>
          <pc:docMk/>
          <pc:sldMk cId="133680366" sldId="278"/>
        </pc:sldMkLst>
        <pc:spChg chg="add mod">
          <ac:chgData name="Jean-Yves Vuillequez" userId="e7fac481abea6bd0" providerId="LiveId" clId="{79E365E8-22BC-4EC2-9606-9A9AC6CD1D22}" dt="2026-01-27T16:17:54.717" v="647" actId="1076"/>
          <ac:spMkLst>
            <pc:docMk/>
            <pc:sldMk cId="133680366" sldId="278"/>
            <ac:spMk id="6" creationId="{A5AFF2F0-1571-8F8C-05E9-F06D7C01078D}"/>
          </ac:spMkLst>
        </pc:spChg>
        <pc:spChg chg="mod">
          <ac:chgData name="Jean-Yves Vuillequez" userId="e7fac481abea6bd0" providerId="LiveId" clId="{79E365E8-22BC-4EC2-9606-9A9AC6CD1D22}" dt="2026-01-27T16:17:54.717" v="647" actId="1076"/>
          <ac:spMkLst>
            <pc:docMk/>
            <pc:sldMk cId="133680366" sldId="278"/>
            <ac:spMk id="7" creationId="{CAC3447D-ED63-98EC-42AE-1FD42EF3BDA0}"/>
          </ac:spMkLst>
        </pc:spChg>
        <pc:spChg chg="mod ord">
          <ac:chgData name="Jean-Yves Vuillequez" userId="e7fac481abea6bd0" providerId="LiveId" clId="{79E365E8-22BC-4EC2-9606-9A9AC6CD1D22}" dt="2026-01-26T14:28:46.917" v="582" actId="1076"/>
          <ac:spMkLst>
            <pc:docMk/>
            <pc:sldMk cId="133680366" sldId="278"/>
            <ac:spMk id="8" creationId="{7D04C777-50BF-3C29-6CCE-5AFD870E9DC0}"/>
          </ac:spMkLst>
        </pc:spChg>
        <pc:spChg chg="mod">
          <ac:chgData name="Jean-Yves Vuillequez" userId="e7fac481abea6bd0" providerId="LiveId" clId="{79E365E8-22BC-4EC2-9606-9A9AC6CD1D22}" dt="2026-01-26T14:28:14.252" v="574" actId="1076"/>
          <ac:spMkLst>
            <pc:docMk/>
            <pc:sldMk cId="133680366" sldId="278"/>
            <ac:spMk id="9" creationId="{CB39ADEE-0B21-7083-2CD9-E9B1E448BBCB}"/>
          </ac:spMkLst>
        </pc:spChg>
        <pc:spChg chg="add mod">
          <ac:chgData name="Jean-Yves Vuillequez" userId="e7fac481abea6bd0" providerId="LiveId" clId="{79E365E8-22BC-4EC2-9606-9A9AC6CD1D22}" dt="2026-01-26T14:28:46.917" v="582" actId="1076"/>
          <ac:spMkLst>
            <pc:docMk/>
            <pc:sldMk cId="133680366" sldId="278"/>
            <ac:spMk id="10" creationId="{B5D51CAA-FC22-3432-0DC6-6E99CC96CA9E}"/>
          </ac:spMkLst>
        </pc:spChg>
        <pc:spChg chg="add mod">
          <ac:chgData name="Jean-Yves Vuillequez" userId="e7fac481abea6bd0" providerId="LiveId" clId="{79E365E8-22BC-4EC2-9606-9A9AC6CD1D22}" dt="2026-01-26T14:28:42.010" v="581" actId="465"/>
          <ac:spMkLst>
            <pc:docMk/>
            <pc:sldMk cId="133680366" sldId="278"/>
            <ac:spMk id="11" creationId="{983A2F5C-7BDE-FAA9-1539-8A9488C7659F}"/>
          </ac:spMkLst>
        </pc:spChg>
        <pc:spChg chg="add mod">
          <ac:chgData name="Jean-Yves Vuillequez" userId="e7fac481abea6bd0" providerId="LiveId" clId="{79E365E8-22BC-4EC2-9606-9A9AC6CD1D22}" dt="2026-01-26T14:28:46.917" v="582" actId="1076"/>
          <ac:spMkLst>
            <pc:docMk/>
            <pc:sldMk cId="133680366" sldId="278"/>
            <ac:spMk id="12" creationId="{60E25C6B-F08C-F101-9B11-7254129CAED8}"/>
          </ac:spMkLst>
        </pc:spChg>
        <pc:spChg chg="add mod">
          <ac:chgData name="Jean-Yves Vuillequez" userId="e7fac481abea6bd0" providerId="LiveId" clId="{79E365E8-22BC-4EC2-9606-9A9AC6CD1D22}" dt="2026-01-27T16:17:54.717" v="647" actId="1076"/>
          <ac:spMkLst>
            <pc:docMk/>
            <pc:sldMk cId="133680366" sldId="278"/>
            <ac:spMk id="13" creationId="{0FF22FC2-4E60-E829-F03C-A8108E8EF65F}"/>
          </ac:spMkLst>
        </pc:spChg>
        <pc:spChg chg="add mod">
          <ac:chgData name="Jean-Yves Vuillequez" userId="e7fac481abea6bd0" providerId="LiveId" clId="{79E365E8-22BC-4EC2-9606-9A9AC6CD1D22}" dt="2026-01-26T14:28:42.010" v="581" actId="465"/>
          <ac:spMkLst>
            <pc:docMk/>
            <pc:sldMk cId="133680366" sldId="278"/>
            <ac:spMk id="14" creationId="{8F9B7EB8-A221-36E7-859F-E67F86B5776A}"/>
          </ac:spMkLst>
        </pc:spChg>
        <pc:spChg chg="add mod">
          <ac:chgData name="Jean-Yves Vuillequez" userId="e7fac481abea6bd0" providerId="LiveId" clId="{79E365E8-22BC-4EC2-9606-9A9AC6CD1D22}" dt="2026-01-27T16:17:40.223" v="644" actId="1076"/>
          <ac:spMkLst>
            <pc:docMk/>
            <pc:sldMk cId="133680366" sldId="278"/>
            <ac:spMk id="15" creationId="{BF4B775D-BF72-B539-2FA0-FC6E3F16607A}"/>
          </ac:spMkLst>
        </pc:spChg>
        <pc:spChg chg="add mod">
          <ac:chgData name="Jean-Yves Vuillequez" userId="e7fac481abea6bd0" providerId="LiveId" clId="{79E365E8-22BC-4EC2-9606-9A9AC6CD1D22}" dt="2026-01-27T16:17:40.223" v="644" actId="1076"/>
          <ac:spMkLst>
            <pc:docMk/>
            <pc:sldMk cId="133680366" sldId="278"/>
            <ac:spMk id="16" creationId="{766AC692-4867-5DCE-34BF-9559DFFCEE1A}"/>
          </ac:spMkLst>
        </pc:spChg>
        <pc:spChg chg="add mod">
          <ac:chgData name="Jean-Yves Vuillequez" userId="e7fac481abea6bd0" providerId="LiveId" clId="{79E365E8-22BC-4EC2-9606-9A9AC6CD1D22}" dt="2026-01-27T16:17:40.223" v="644" actId="1076"/>
          <ac:spMkLst>
            <pc:docMk/>
            <pc:sldMk cId="133680366" sldId="278"/>
            <ac:spMk id="17" creationId="{233DCE8E-4C8D-04FC-E215-599C1533E0D6}"/>
          </ac:spMkLst>
        </pc:spChg>
        <pc:spChg chg="mod">
          <ac:chgData name="Jean-Yves Vuillequez" userId="e7fac481abea6bd0" providerId="LiveId" clId="{79E365E8-22BC-4EC2-9606-9A9AC6CD1D22}" dt="2026-02-03T17:33:43.959" v="715" actId="108"/>
          <ac:spMkLst>
            <pc:docMk/>
            <pc:sldMk cId="133680366" sldId="278"/>
            <ac:spMk id="68" creationId="{969E2D36-06A7-779E-A142-439E11FCA5C4}"/>
          </ac:spMkLst>
        </pc:spChg>
      </pc:sldChg>
      <pc:sldChg chg="modSp add mod modNotesTx">
        <pc:chgData name="Jean-Yves Vuillequez" userId="e7fac481abea6bd0" providerId="LiveId" clId="{79E365E8-22BC-4EC2-9606-9A9AC6CD1D22}" dt="2026-02-03T17:32:01.189" v="707" actId="20577"/>
        <pc:sldMkLst>
          <pc:docMk/>
          <pc:sldMk cId="1809059413" sldId="279"/>
        </pc:sldMkLst>
        <pc:spChg chg="mod">
          <ac:chgData name="Jean-Yves Vuillequez" userId="e7fac481abea6bd0" providerId="LiveId" clId="{79E365E8-22BC-4EC2-9606-9A9AC6CD1D22}" dt="2026-02-03T17:25:30.725" v="648" actId="108"/>
          <ac:spMkLst>
            <pc:docMk/>
            <pc:sldMk cId="1809059413" sldId="279"/>
            <ac:spMk id="68" creationId="{4C89BF39-1E0F-6FEE-5665-90CD26E412C3}"/>
          </ac:spMkLst>
        </pc:spChg>
      </pc:sldChg>
      <pc:sldChg chg="delSp modSp add mod modNotesTx">
        <pc:chgData name="Jean-Yves Vuillequez" userId="e7fac481abea6bd0" providerId="LiveId" clId="{79E365E8-22BC-4EC2-9606-9A9AC6CD1D22}" dt="2026-02-03T17:32:47.151" v="711" actId="20577"/>
        <pc:sldMkLst>
          <pc:docMk/>
          <pc:sldMk cId="1328024360" sldId="280"/>
        </pc:sldMkLst>
        <pc:spChg chg="mod">
          <ac:chgData name="Jean-Yves Vuillequez" userId="e7fac481abea6bd0" providerId="LiveId" clId="{79E365E8-22BC-4EC2-9606-9A9AC6CD1D22}" dt="2026-01-27T16:12:11.171" v="640" actId="108"/>
          <ac:spMkLst>
            <pc:docMk/>
            <pc:sldMk cId="1328024360" sldId="280"/>
            <ac:spMk id="4" creationId="{4F0A3402-4337-CC7E-AAB7-0D028B2204FE}"/>
          </ac:spMkLst>
        </pc:spChg>
        <pc:spChg chg="mod">
          <ac:chgData name="Jean-Yves Vuillequez" userId="e7fac481abea6bd0" providerId="LiveId" clId="{79E365E8-22BC-4EC2-9606-9A9AC6CD1D22}" dt="2026-02-03T17:27:41.551" v="668" actId="404"/>
          <ac:spMkLst>
            <pc:docMk/>
            <pc:sldMk cId="1328024360" sldId="280"/>
            <ac:spMk id="68" creationId="{39557496-7716-54C7-E411-D30B5CE191E6}"/>
          </ac:spMkLst>
        </pc:spChg>
      </pc:sldChg>
      <pc:sldChg chg="modSp add del mod">
        <pc:chgData name="Jean-Yves Vuillequez" userId="e7fac481abea6bd0" providerId="LiveId" clId="{79E365E8-22BC-4EC2-9606-9A9AC6CD1D22}" dt="2026-02-11T16:05:50.089" v="787" actId="113"/>
        <pc:sldMkLst>
          <pc:docMk/>
          <pc:sldMk cId="0" sldId="281"/>
        </pc:sldMkLst>
        <pc:spChg chg="mod">
          <ac:chgData name="Jean-Yves Vuillequez" userId="e7fac481abea6bd0" providerId="LiveId" clId="{79E365E8-22BC-4EC2-9606-9A9AC6CD1D22}" dt="2026-02-11T16:04:30.099" v="773" actId="14100"/>
          <ac:spMkLst>
            <pc:docMk/>
            <pc:sldMk cId="0" sldId="281"/>
            <ac:spMk id="5" creationId="{C9E79F0C-F757-C223-90A8-073753256F1C}"/>
          </ac:spMkLst>
        </pc:spChg>
        <pc:spChg chg="mod">
          <ac:chgData name="Jean-Yves Vuillequez" userId="e7fac481abea6bd0" providerId="LiveId" clId="{79E365E8-22BC-4EC2-9606-9A9AC6CD1D22}" dt="2026-02-11T16:05:50.089" v="787" actId="113"/>
          <ac:spMkLst>
            <pc:docMk/>
            <pc:sldMk cId="0" sldId="281"/>
            <ac:spMk id="6" creationId="{243FF7A6-205C-44FD-4C04-67C8CD0DF557}"/>
          </ac:spMkLst>
        </pc:spChg>
      </pc:sldChg>
      <pc:sldMasterChg chg="add del addSldLayout delSldLayout">
        <pc:chgData name="Jean-Yves Vuillequez" userId="e7fac481abea6bd0" providerId="LiveId" clId="{79E365E8-22BC-4EC2-9606-9A9AC6CD1D22}" dt="2026-01-16T10:47:03.962" v="33" actId="47"/>
        <pc:sldMasterMkLst>
          <pc:docMk/>
          <pc:sldMasterMk cId="604091050" sldId="2147483660"/>
        </pc:sldMasterMkLst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1669328441" sldId="2147483661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1628572972" sldId="2147483662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2738534442" sldId="2147483663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2962870219" sldId="2147483664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254902670" sldId="2147483665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2825252853" sldId="2147483666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934262042" sldId="2147483667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1499876969" sldId="2147483668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012943028" sldId="2147483669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4176234486" sldId="2147483670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598435996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2B25E5B-3BBB-2380-1421-D652C1294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99C409CB-9071-CED7-BDA4-BB58613CF3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6A29E63D-75FC-B62E-5E84-6FE9E259CB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sz="1100" dirty="0"/>
              <a:t>L’acceptation d’un second rendez-vous est </a:t>
            </a:r>
            <a:r>
              <a:rPr lang="fr-FR" sz="1100" b="1" dirty="0"/>
              <a:t>relativement rare</a:t>
            </a:r>
            <a:r>
              <a:rPr lang="fr-FR" sz="1100" dirty="0"/>
              <a:t>, ce qui confirme la sélectivité du processus.</a:t>
            </a:r>
          </a:p>
        </p:txBody>
      </p:sp>
    </p:spTree>
    <p:extLst>
      <p:ext uri="{BB962C8B-B14F-4D97-AF65-F5344CB8AC3E}">
        <p14:creationId xmlns:p14="http://schemas.microsoft.com/office/powerpoint/2010/main" val="2671767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8A02A2F2-73FE-7FDE-C474-7AD784FAC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39691B50-2E44-056A-F6B0-E3E206B461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2CD5CAB7-E88E-B36D-1B4C-F0E18B93CD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sz="1100" dirty="0"/>
              <a:t>Les </a:t>
            </a:r>
            <a:r>
              <a:rPr lang="fr-FR" sz="1100" b="1" dirty="0"/>
              <a:t>hommes déclarent plus fréquemment </a:t>
            </a:r>
            <a:r>
              <a:rPr lang="fr-FR" sz="1100" dirty="0"/>
              <a:t>vouloir un second rendez-vous que les femmes.</a:t>
            </a:r>
          </a:p>
        </p:txBody>
      </p:sp>
    </p:spTree>
    <p:extLst>
      <p:ext uri="{BB962C8B-B14F-4D97-AF65-F5344CB8AC3E}">
        <p14:creationId xmlns:p14="http://schemas.microsoft.com/office/powerpoint/2010/main" val="1720139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8867DA3-9C02-4580-AC78-4A1E8CFBC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450755BD-1EC2-A3B6-3483-A008C60698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480B3579-3639-B50D-1ED0-4676421DF9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sz="1100" dirty="0"/>
              <a:t>La décision repose sur une </a:t>
            </a:r>
            <a:r>
              <a:rPr lang="fr-FR" sz="1100" b="1" dirty="0"/>
              <a:t>évaluation globale positive du partenaire</a:t>
            </a:r>
            <a:r>
              <a:rPr lang="fr-FR" sz="1100" dirty="0"/>
              <a:t>, plutôt que sur un seul critère isolé.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6344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C55B9BFF-1AA9-EA57-AB95-81918BC91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874FCF76-368E-6825-85AD-5B60B61B9F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4E3C1E08-864F-BEA4-1521-CAEF7DC95C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sz="1100" b="1" dirty="0"/>
              <a:t>Tous les critères comptent</a:t>
            </a:r>
            <a:r>
              <a:rPr lang="fr-FR" sz="1100" dirty="0"/>
              <a:t>, mais certains séparent beaucoup plus clairement les décisions positives et négatives.</a:t>
            </a:r>
          </a:p>
        </p:txBody>
      </p:sp>
    </p:spTree>
    <p:extLst>
      <p:ext uri="{BB962C8B-B14F-4D97-AF65-F5344CB8AC3E}">
        <p14:creationId xmlns:p14="http://schemas.microsoft.com/office/powerpoint/2010/main" val="2670250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5240C84E-F9EA-958D-AAF1-52CB1FA7D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1FD46D17-14F5-1F89-235C-BD39E93E38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3D24012B-B143-3B85-B1F5-B75A863F06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sz="1100" dirty="0"/>
              <a:t>Lorsque la note d’</a:t>
            </a:r>
            <a:r>
              <a:rPr lang="fr-FR" sz="1100" dirty="0" err="1"/>
              <a:t>attractiveness</a:t>
            </a:r>
            <a:r>
              <a:rPr lang="fr-FR" sz="1100" dirty="0"/>
              <a:t>, de fun ou d’intérêts partagés augmente, la </a:t>
            </a:r>
            <a:r>
              <a:rPr lang="fr-FR" sz="1100" b="1" dirty="0"/>
              <a:t>probabilité d’un “Oui” augmente également.</a:t>
            </a:r>
          </a:p>
        </p:txBody>
      </p:sp>
    </p:spTree>
    <p:extLst>
      <p:ext uri="{BB962C8B-B14F-4D97-AF65-F5344CB8AC3E}">
        <p14:creationId xmlns:p14="http://schemas.microsoft.com/office/powerpoint/2010/main" val="2785216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5AF0EFE1-0752-D122-772B-8BAAB8187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4F26FCA0-0768-EA9F-C4E9-8BD234BC81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4617EA9D-0735-B44B-E7ED-9B5BC58C66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sz="1100" b="1" dirty="0"/>
              <a:t>L’ordre du date semble jouer un rôle secondaire</a:t>
            </a:r>
            <a:r>
              <a:rPr lang="fr-FR" sz="1100" dirty="0"/>
              <a:t>, possiblement lié à la fatigue ou à l’effet de comparaison.</a:t>
            </a:r>
          </a:p>
        </p:txBody>
      </p:sp>
    </p:spTree>
    <p:extLst>
      <p:ext uri="{BB962C8B-B14F-4D97-AF65-F5344CB8AC3E}">
        <p14:creationId xmlns:p14="http://schemas.microsoft.com/office/powerpoint/2010/main" val="1776434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33B4E223-5F4C-2AF2-D2D6-A6AA00CE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3D8A847D-CB1A-5EAD-6C2C-E9B1B095E0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C5D44651-6C7B-1264-73A4-A6C01A6211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3448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9328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8572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53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870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4902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2528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4262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9876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2943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6234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8435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40910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182215"/>
            <a:ext cx="7411679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Speed Dating 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735464" y="301060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 err="1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Exploratory</a:t>
            </a:r>
            <a:r>
              <a:rPr lang="fr-FR" sz="25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 Data </a:t>
            </a:r>
            <a:r>
              <a:rPr lang="fr-FR" sz="2500" dirty="0" err="1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Analysis</a:t>
            </a:r>
            <a:endParaRPr sz="25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Google Shape;57;p13">
            <a:extLst>
              <a:ext uri="{FF2B5EF4-FFF2-40B4-BE49-F238E27FC236}">
                <a16:creationId xmlns:a16="http://schemas.microsoft.com/office/drawing/2014/main" id="{57DEF025-3287-AC4F-B3FC-747B4D27CCFE}"/>
              </a:ext>
            </a:extLst>
          </p:cNvPr>
          <p:cNvSpPr txBox="1">
            <a:spLocks/>
          </p:cNvSpPr>
          <p:nvPr/>
        </p:nvSpPr>
        <p:spPr>
          <a:xfrm>
            <a:off x="735464" y="3693307"/>
            <a:ext cx="2716396" cy="278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200" b="1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Rédacteur : </a:t>
            </a:r>
            <a:r>
              <a:rPr lang="fr-FR" sz="12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Jean-Yves Vuillequez</a:t>
            </a:r>
          </a:p>
        </p:txBody>
      </p:sp>
      <p:sp>
        <p:nvSpPr>
          <p:cNvPr id="3" name="Google Shape;54;p13">
            <a:extLst>
              <a:ext uri="{FF2B5EF4-FFF2-40B4-BE49-F238E27FC236}">
                <a16:creationId xmlns:a16="http://schemas.microsoft.com/office/drawing/2014/main" id="{124BAD35-7509-EAFD-F0C5-0C17E26060D0}"/>
              </a:ext>
            </a:extLst>
          </p:cNvPr>
          <p:cNvSpPr txBox="1">
            <a:spLocks/>
          </p:cNvSpPr>
          <p:nvPr/>
        </p:nvSpPr>
        <p:spPr>
          <a:xfrm>
            <a:off x="754326" y="1683667"/>
            <a:ext cx="7411679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200" dirty="0"/>
              <a:t>RNCP35288 CDSD</a:t>
            </a:r>
            <a:r>
              <a:rPr lang="fr-FR" sz="1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703307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Contexte et enjeu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Flèche : droite 1">
            <a:extLst>
              <a:ext uri="{FF2B5EF4-FFF2-40B4-BE49-F238E27FC236}">
                <a16:creationId xmlns:a16="http://schemas.microsoft.com/office/drawing/2014/main" id="{86EAA274-6C17-67CB-A10D-51EEF8179EBB}"/>
              </a:ext>
            </a:extLst>
          </p:cNvPr>
          <p:cNvSpPr/>
          <p:nvPr/>
        </p:nvSpPr>
        <p:spPr>
          <a:xfrm>
            <a:off x="617497" y="1132209"/>
            <a:ext cx="541478" cy="53141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5" name="Google Shape;69;p3">
            <a:extLst>
              <a:ext uri="{FF2B5EF4-FFF2-40B4-BE49-F238E27FC236}">
                <a16:creationId xmlns:a16="http://schemas.microsoft.com/office/drawing/2014/main" id="{C9E79F0C-F757-C223-90A8-073753256F1C}"/>
              </a:ext>
            </a:extLst>
          </p:cNvPr>
          <p:cNvSpPr/>
          <p:nvPr/>
        </p:nvSpPr>
        <p:spPr>
          <a:xfrm>
            <a:off x="1260039" y="1164422"/>
            <a:ext cx="7266464" cy="2181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73;p3">
            <a:extLst>
              <a:ext uri="{FF2B5EF4-FFF2-40B4-BE49-F238E27FC236}">
                <a16:creationId xmlns:a16="http://schemas.microsoft.com/office/drawing/2014/main" id="{243FF7A6-205C-44FD-4C04-67C8CD0DF557}"/>
              </a:ext>
            </a:extLst>
          </p:cNvPr>
          <p:cNvSpPr txBox="1">
            <a:spLocks/>
          </p:cNvSpPr>
          <p:nvPr/>
        </p:nvSpPr>
        <p:spPr>
          <a:xfrm>
            <a:off x="1260039" y="1164423"/>
            <a:ext cx="7266464" cy="30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400" b="1" dirty="0"/>
              <a:t>Objectif : </a:t>
            </a:r>
          </a:p>
          <a:p>
            <a:pPr>
              <a:buSzPct val="100000"/>
            </a:pPr>
            <a:r>
              <a:rPr lang="fr-FR" sz="1400" dirty="0"/>
              <a:t>Tinder cherche à mieux comprendre les mécanismes d’attraction lors des premières interactions afin d’améliorer les recommandations et l’expérience utilisateur</a:t>
            </a:r>
          </a:p>
          <a:p>
            <a:pPr>
              <a:buSzPct val="100000"/>
            </a:pPr>
            <a:endParaRPr lang="fr-FR" sz="1400" dirty="0"/>
          </a:p>
          <a:p>
            <a:pPr marL="114300" indent="0">
              <a:buSzPct val="100000"/>
              <a:buNone/>
            </a:pPr>
            <a:r>
              <a:rPr lang="fr-FR" sz="1400" b="1" dirty="0"/>
              <a:t>L’enjeu est double : </a:t>
            </a:r>
          </a:p>
          <a:p>
            <a:pPr>
              <a:buSzPct val="100000"/>
            </a:pPr>
            <a:r>
              <a:rPr lang="fr-FR" sz="1400" dirty="0"/>
              <a:t>Comprendre quels facteurs qui influencent la décision individuelle d’accepter un second rendez-vous</a:t>
            </a:r>
          </a:p>
          <a:p>
            <a:pPr>
              <a:buSzPct val="100000"/>
            </a:pPr>
            <a:r>
              <a:rPr lang="fr-FR" sz="1400" dirty="0"/>
              <a:t>Identifier l’écart entre préférences déclarées et comportements réels</a:t>
            </a: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268E1B3E-DDDF-05E3-7FAC-642478B8D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4C89BF39-1E0F-6FEE-5665-90CD26E412C3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3" y="403309"/>
            <a:ext cx="7861781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Baseline - Distribution des décisions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7871B95A-262C-7DEA-9C00-F87D584A75C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FBD8CB54-2A24-FDF3-05A0-BDB561854E48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E4B1DFDF-2240-55FB-8059-5A55F3A26980}"/>
              </a:ext>
            </a:extLst>
          </p:cNvPr>
          <p:cNvSpPr/>
          <p:nvPr/>
        </p:nvSpPr>
        <p:spPr>
          <a:xfrm>
            <a:off x="311700" y="3696985"/>
            <a:ext cx="8686385" cy="115310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3C3E34B9-C94D-E692-D904-35915090E53F}"/>
              </a:ext>
            </a:extLst>
          </p:cNvPr>
          <p:cNvSpPr txBox="1">
            <a:spLocks/>
          </p:cNvSpPr>
          <p:nvPr/>
        </p:nvSpPr>
        <p:spPr>
          <a:xfrm>
            <a:off x="311700" y="3696985"/>
            <a:ext cx="8686385" cy="1153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050" b="1" dirty="0"/>
              <a:t>Question : </a:t>
            </a:r>
            <a:r>
              <a:rPr lang="fr-FR" sz="1050" dirty="0"/>
              <a:t>Dire “oui” est-il fréquent ou rare ?</a:t>
            </a:r>
          </a:p>
          <a:p>
            <a:pPr marL="114300" indent="0">
              <a:buSzPct val="100000"/>
              <a:buNone/>
            </a:pPr>
            <a:r>
              <a:rPr lang="fr-FR" sz="1050" b="1" dirty="0" err="1"/>
              <a:t>Visulisation</a:t>
            </a:r>
            <a:r>
              <a:rPr lang="fr-FR" sz="1050" b="1" dirty="0"/>
              <a:t> : </a:t>
            </a:r>
            <a:r>
              <a:rPr lang="fr-FR" sz="1050" dirty="0"/>
              <a:t>Ce graphique présente la distribution globale des décisions de second rendez-vous.</a:t>
            </a:r>
          </a:p>
          <a:p>
            <a:pPr marL="114300" indent="0">
              <a:buSzPct val="100000"/>
              <a:buNone/>
            </a:pPr>
            <a:endParaRPr lang="fr-FR" sz="1050" dirty="0"/>
          </a:p>
          <a:p>
            <a:pPr marL="114300" indent="0">
              <a:buSzPct val="100000"/>
              <a:buNone/>
            </a:pPr>
            <a:r>
              <a:rPr lang="fr-FR" sz="1100" b="1" dirty="0">
                <a:solidFill>
                  <a:srgbClr val="0070C0"/>
                </a:solidFill>
              </a:rPr>
              <a:t>Insight : </a:t>
            </a:r>
            <a:r>
              <a:rPr lang="fr-FR" sz="1100" dirty="0"/>
              <a:t>On observe qu’environ 42 % des interactions aboutissent à une décision positive, tandis que 58 % se concluent par un refus. La majorité des interactions n’aboutissent pas à un second rendez-vous, ce qui pourrait confirmer la sélectivité du processus.</a:t>
            </a:r>
          </a:p>
        </p:txBody>
      </p:sp>
      <p:pic>
        <p:nvPicPr>
          <p:cNvPr id="5" name="Image 4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8C795D92-844E-507A-2BE6-0F05216253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48" b="13104"/>
          <a:stretch>
            <a:fillRect/>
          </a:stretch>
        </p:blipFill>
        <p:spPr>
          <a:xfrm>
            <a:off x="1073679" y="1071526"/>
            <a:ext cx="6996642" cy="2422690"/>
          </a:xfrm>
          <a:prstGeom prst="rect">
            <a:avLst/>
          </a:prstGeom>
          <a:solidFill>
            <a:srgbClr val="E4E9EB"/>
          </a:solidFill>
          <a:ln w="9525">
            <a:solidFill>
              <a:srgbClr val="E4E9EB"/>
            </a:solidFill>
          </a:ln>
        </p:spPr>
      </p:pic>
    </p:spTree>
    <p:extLst>
      <p:ext uri="{BB962C8B-B14F-4D97-AF65-F5344CB8AC3E}">
        <p14:creationId xmlns:p14="http://schemas.microsoft.com/office/powerpoint/2010/main" val="1809059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5E0C5752-404F-498A-28C6-BE49728C3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E2BEF10E-249F-CEA5-FFA0-F7515196276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3" y="403309"/>
            <a:ext cx="7861781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Segmentation - Taux de YES par genre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687D8FAC-03BE-4C06-D571-0521A60879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35B152C4-C079-9764-A3C0-45C66F69D051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B10611D3-FBDB-F07D-AB8B-6A155297F7C4}"/>
              </a:ext>
            </a:extLst>
          </p:cNvPr>
          <p:cNvSpPr/>
          <p:nvPr/>
        </p:nvSpPr>
        <p:spPr>
          <a:xfrm>
            <a:off x="311700" y="3696985"/>
            <a:ext cx="8686385" cy="115310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FD0DCFF6-AAC9-B237-076D-808C0F9F9DEA}"/>
              </a:ext>
            </a:extLst>
          </p:cNvPr>
          <p:cNvSpPr txBox="1">
            <a:spLocks/>
          </p:cNvSpPr>
          <p:nvPr/>
        </p:nvSpPr>
        <p:spPr>
          <a:xfrm>
            <a:off x="311700" y="3696985"/>
            <a:ext cx="8686385" cy="1153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050" b="1" dirty="0"/>
              <a:t>Question : </a:t>
            </a:r>
            <a:r>
              <a:rPr lang="fr-FR" sz="1050" dirty="0"/>
              <a:t>Les décisions diffèrent-elles selon le genre ?</a:t>
            </a:r>
          </a:p>
          <a:p>
            <a:pPr marL="114300" indent="0">
              <a:buSzPct val="100000"/>
              <a:buNone/>
            </a:pPr>
            <a:r>
              <a:rPr lang="fr-FR" sz="1050" b="1" dirty="0" err="1"/>
              <a:t>Visulisation</a:t>
            </a:r>
            <a:r>
              <a:rPr lang="fr-FR" sz="1050" b="1" dirty="0"/>
              <a:t> : </a:t>
            </a:r>
            <a:r>
              <a:rPr lang="fr-FR" sz="1050" dirty="0"/>
              <a:t>Ce graphique présente le taux de décisions positives selon le genre de la personne.</a:t>
            </a:r>
          </a:p>
          <a:p>
            <a:pPr marL="114300" indent="0">
              <a:buSzPct val="100000"/>
              <a:buNone/>
            </a:pPr>
            <a:endParaRPr lang="fr-FR" sz="500" dirty="0"/>
          </a:p>
          <a:p>
            <a:pPr marL="114300" indent="0">
              <a:buSzPct val="100000"/>
              <a:buNone/>
            </a:pPr>
            <a:r>
              <a:rPr lang="fr-FR" sz="1100" b="1" dirty="0">
                <a:solidFill>
                  <a:srgbClr val="0070C0"/>
                </a:solidFill>
              </a:rPr>
              <a:t>Insight : </a:t>
            </a:r>
            <a:r>
              <a:rPr lang="fr-FR" sz="1100" dirty="0"/>
              <a:t>On observe que les hommes déclarent plus fréquemment vouloir un second rendez-vous (47 %) que les femmes (37 %). Les volumes d’observations sont comparables entre les deux groupes. </a:t>
            </a:r>
            <a:r>
              <a:rPr lang="fr-FR" sz="1100" b="1" dirty="0"/>
              <a:t>Attention : </a:t>
            </a:r>
            <a:r>
              <a:rPr lang="fr-FR" sz="1100" dirty="0"/>
              <a:t>Cette analyse ne permet pas d’expliquer les causes de cet écart et justifie l’étude des critères évalués afin de comprendre les leviers spécifiques de la décision.</a:t>
            </a:r>
          </a:p>
        </p:txBody>
      </p:sp>
      <p:pic>
        <p:nvPicPr>
          <p:cNvPr id="9" name="Image 8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67EF8CB4-9048-8902-53BF-8C6E389CF0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79" b="11926"/>
          <a:stretch>
            <a:fillRect/>
          </a:stretch>
        </p:blipFill>
        <p:spPr>
          <a:xfrm>
            <a:off x="1083904" y="1057380"/>
            <a:ext cx="6996642" cy="2450981"/>
          </a:xfrm>
          <a:prstGeom prst="rect">
            <a:avLst/>
          </a:prstGeom>
          <a:solidFill>
            <a:srgbClr val="E4E9EB"/>
          </a:solidFill>
          <a:ln w="9525">
            <a:solidFill>
              <a:srgbClr val="E4E9EB"/>
            </a:solidFill>
          </a:ln>
        </p:spPr>
      </p:pic>
    </p:spTree>
    <p:extLst>
      <p:ext uri="{BB962C8B-B14F-4D97-AF65-F5344CB8AC3E}">
        <p14:creationId xmlns:p14="http://schemas.microsoft.com/office/powerpoint/2010/main" val="1877141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7172546C-AB67-D26C-B12E-E3F691346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9B7DA8C1-660E-6801-65E6-D852627010F7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3" y="403309"/>
            <a:ext cx="7861781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Analyse centrale - Impact des attributs </a:t>
            </a:r>
            <a:r>
              <a:rPr lang="fr-FR" sz="1400" dirty="0">
                <a:solidFill>
                  <a:srgbClr val="0E3449"/>
                </a:solidFill>
                <a:latin typeface="Inter SemiBold"/>
                <a:ea typeface="Inter SemiBold"/>
              </a:rPr>
              <a:t>(YES vs NO)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9B3AF504-C062-A1C7-6EF3-FB75D475069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8DB67DBC-7B14-9A5E-C132-AC614AFB6830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D038E7A1-F1D3-970D-672B-6D520A3FC3CF}"/>
              </a:ext>
            </a:extLst>
          </p:cNvPr>
          <p:cNvSpPr/>
          <p:nvPr/>
        </p:nvSpPr>
        <p:spPr>
          <a:xfrm>
            <a:off x="311700" y="3696985"/>
            <a:ext cx="8686385" cy="115310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F4B25824-BA6C-B96C-1B04-6DDD5ED9411D}"/>
              </a:ext>
            </a:extLst>
          </p:cNvPr>
          <p:cNvSpPr txBox="1">
            <a:spLocks/>
          </p:cNvSpPr>
          <p:nvPr/>
        </p:nvSpPr>
        <p:spPr>
          <a:xfrm>
            <a:off x="311700" y="3696985"/>
            <a:ext cx="8686385" cy="1153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050" b="1" dirty="0"/>
              <a:t>Question : </a:t>
            </a:r>
            <a:r>
              <a:rPr lang="fr-FR" sz="1050" dirty="0"/>
              <a:t>Quels critères font réellement la différence ?</a:t>
            </a:r>
          </a:p>
          <a:p>
            <a:pPr marL="114300" indent="0">
              <a:buSzPct val="100000"/>
              <a:buNone/>
            </a:pPr>
            <a:r>
              <a:rPr lang="fr-FR" sz="1050" b="1" dirty="0" err="1"/>
              <a:t>Visulisation</a:t>
            </a:r>
            <a:r>
              <a:rPr lang="fr-FR" sz="1050" b="1" dirty="0"/>
              <a:t> : </a:t>
            </a:r>
            <a:r>
              <a:rPr lang="fr-FR" sz="1050" dirty="0"/>
              <a:t>Ce graphique compare la distribution des notes attribuées aux profils acceptés et refusés pour chaque attribut.</a:t>
            </a:r>
          </a:p>
          <a:p>
            <a:pPr marL="114300" indent="0">
              <a:buSzPct val="100000"/>
              <a:buNone/>
            </a:pPr>
            <a:endParaRPr lang="fr-FR" sz="500" dirty="0"/>
          </a:p>
          <a:p>
            <a:pPr marL="114300" indent="0">
              <a:buSzPct val="100000"/>
              <a:buNone/>
            </a:pPr>
            <a:r>
              <a:rPr lang="fr-FR" sz="1100" b="1" dirty="0">
                <a:solidFill>
                  <a:srgbClr val="0070C0"/>
                </a:solidFill>
              </a:rPr>
              <a:t>Insight : </a:t>
            </a:r>
            <a:r>
              <a:rPr lang="fr-FR" sz="1100" dirty="0"/>
              <a:t>Les écarts sont particulièrement marqués pour les critères </a:t>
            </a:r>
            <a:r>
              <a:rPr lang="fr-FR" sz="1100" dirty="0" err="1"/>
              <a:t>attractiveness</a:t>
            </a:r>
            <a:r>
              <a:rPr lang="fr-FR" sz="1100" dirty="0"/>
              <a:t> et </a:t>
            </a:r>
            <a:r>
              <a:rPr lang="fr-FR" sz="1100" dirty="0" err="1"/>
              <a:t>shared</a:t>
            </a:r>
            <a:r>
              <a:rPr lang="fr-FR" sz="1100" dirty="0"/>
              <a:t> </a:t>
            </a:r>
            <a:r>
              <a:rPr lang="fr-FR" sz="1100" dirty="0" err="1"/>
              <a:t>interests</a:t>
            </a:r>
            <a:r>
              <a:rPr lang="fr-FR" sz="1100" dirty="0"/>
              <a:t>. Le critère fun joue également un rôle important, mais de manière légèrement moins discriminante.</a:t>
            </a:r>
          </a:p>
        </p:txBody>
      </p:sp>
      <p:pic>
        <p:nvPicPr>
          <p:cNvPr id="6" name="Image 5" descr="Une image contenant texte, capture d’écran, diagramme, Plan&#10;&#10;Le contenu généré par l’IA peut être incorrect.">
            <a:extLst>
              <a:ext uri="{FF2B5EF4-FFF2-40B4-BE49-F238E27FC236}">
                <a16:creationId xmlns:a16="http://schemas.microsoft.com/office/drawing/2014/main" id="{A7B7187D-96D0-268E-DEB5-09CA79D9CF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15" t="6350" r="814" b="6105"/>
          <a:stretch>
            <a:fillRect/>
          </a:stretch>
        </p:blipFill>
        <p:spPr>
          <a:xfrm>
            <a:off x="1061112" y="936410"/>
            <a:ext cx="6885088" cy="2628480"/>
          </a:xfrm>
          <a:prstGeom prst="rect">
            <a:avLst/>
          </a:prstGeom>
          <a:solidFill>
            <a:srgbClr val="E4E9EB"/>
          </a:solidFill>
          <a:ln w="9525">
            <a:solidFill>
              <a:srgbClr val="E4E9EB"/>
            </a:solidFill>
          </a:ln>
        </p:spPr>
      </p:pic>
    </p:spTree>
    <p:extLst>
      <p:ext uri="{BB962C8B-B14F-4D97-AF65-F5344CB8AC3E}">
        <p14:creationId xmlns:p14="http://schemas.microsoft.com/office/powerpoint/2010/main" val="8107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5FC9441D-612A-19D4-B75C-28AD5CA02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39557496-7716-54C7-E411-D30B5CE191E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3" y="403309"/>
            <a:ext cx="7861781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Analyse centrale - Impact des attributs </a:t>
            </a:r>
            <a:r>
              <a:rPr lang="fr-FR" sz="1400" dirty="0">
                <a:solidFill>
                  <a:srgbClr val="0E3449"/>
                </a:solidFill>
                <a:latin typeface="Inter SemiBold"/>
                <a:ea typeface="Inter SemiBold"/>
              </a:rPr>
              <a:t>(YES vs NO)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9075B773-402D-CCB8-327F-D1BE38F5BDD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72149A31-E883-A568-CB79-58407534141F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9440652B-B836-8630-A992-A897CA209BA5}"/>
              </a:ext>
            </a:extLst>
          </p:cNvPr>
          <p:cNvSpPr/>
          <p:nvPr/>
        </p:nvSpPr>
        <p:spPr>
          <a:xfrm>
            <a:off x="311700" y="3696985"/>
            <a:ext cx="8686385" cy="115310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4F0A3402-4337-CC7E-AAB7-0D028B2204FE}"/>
              </a:ext>
            </a:extLst>
          </p:cNvPr>
          <p:cNvSpPr txBox="1">
            <a:spLocks/>
          </p:cNvSpPr>
          <p:nvPr/>
        </p:nvSpPr>
        <p:spPr>
          <a:xfrm>
            <a:off x="311700" y="3696985"/>
            <a:ext cx="8686385" cy="1153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050" b="1" dirty="0"/>
              <a:t>Question : </a:t>
            </a:r>
            <a:r>
              <a:rPr lang="fr-FR" sz="1050" dirty="0"/>
              <a:t>Quels critères font réellement la différence ?</a:t>
            </a:r>
          </a:p>
          <a:p>
            <a:pPr marL="114300" indent="0">
              <a:buSzPct val="100000"/>
              <a:buNone/>
            </a:pPr>
            <a:r>
              <a:rPr lang="fr-FR" sz="1050" b="1" dirty="0" err="1"/>
              <a:t>Visulisation</a:t>
            </a:r>
            <a:r>
              <a:rPr lang="fr-FR" sz="1050" b="1" dirty="0"/>
              <a:t> : </a:t>
            </a:r>
            <a:r>
              <a:rPr lang="fr-FR" sz="1050" dirty="0"/>
              <a:t>Ce graphique compare la distribution des notes attribuées aux profils acceptés et refusés pour chaque attribut.</a:t>
            </a:r>
          </a:p>
          <a:p>
            <a:pPr marL="114300" indent="0">
              <a:buSzPct val="100000"/>
              <a:buNone/>
            </a:pPr>
            <a:endParaRPr lang="fr-FR" sz="500" dirty="0"/>
          </a:p>
          <a:p>
            <a:pPr marL="114300" indent="0">
              <a:buSzPct val="100000"/>
              <a:buNone/>
            </a:pPr>
            <a:r>
              <a:rPr lang="fr-FR" sz="1100" b="1" dirty="0">
                <a:solidFill>
                  <a:srgbClr val="0070C0"/>
                </a:solidFill>
              </a:rPr>
              <a:t>Insight : </a:t>
            </a:r>
            <a:r>
              <a:rPr lang="fr-FR" sz="1100" dirty="0"/>
              <a:t>Les critères les plus discriminants sont “</a:t>
            </a:r>
            <a:r>
              <a:rPr lang="fr-FR" sz="1100" dirty="0" err="1"/>
              <a:t>attractiveness</a:t>
            </a:r>
            <a:r>
              <a:rPr lang="fr-FR" sz="1100" dirty="0"/>
              <a:t>” et “</a:t>
            </a:r>
            <a:r>
              <a:rPr lang="fr-FR" sz="1100" dirty="0" err="1"/>
              <a:t>shared</a:t>
            </a:r>
            <a:r>
              <a:rPr lang="fr-FR" sz="1100" dirty="0"/>
              <a:t> </a:t>
            </a:r>
            <a:r>
              <a:rPr lang="fr-FR" sz="1100" dirty="0" err="1"/>
              <a:t>interests</a:t>
            </a:r>
            <a:r>
              <a:rPr lang="fr-FR" sz="1100" dirty="0"/>
              <a:t>” et le fun, avec un écart de moyenne nettement supérieur aux autres attributs.</a:t>
            </a:r>
          </a:p>
        </p:txBody>
      </p:sp>
      <p:pic>
        <p:nvPicPr>
          <p:cNvPr id="8" name="Image 7" descr="Une image contenant texte, capture d’écran, Police, Rectangle&#10;&#10;Le contenu généré par l’IA peut être incorrect.">
            <a:extLst>
              <a:ext uri="{FF2B5EF4-FFF2-40B4-BE49-F238E27FC236}">
                <a16:creationId xmlns:a16="http://schemas.microsoft.com/office/drawing/2014/main" id="{AE694DE3-158B-8D37-53F9-F64CE620A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663" y="999802"/>
            <a:ext cx="6543454" cy="2633790"/>
          </a:xfrm>
          <a:prstGeom prst="rect">
            <a:avLst/>
          </a:prstGeom>
          <a:solidFill>
            <a:srgbClr val="E4E9EB"/>
          </a:solidFill>
          <a:ln w="9525">
            <a:solidFill>
              <a:srgbClr val="E4E9EB"/>
            </a:solidFill>
          </a:ln>
        </p:spPr>
      </p:pic>
    </p:spTree>
    <p:extLst>
      <p:ext uri="{BB962C8B-B14F-4D97-AF65-F5344CB8AC3E}">
        <p14:creationId xmlns:p14="http://schemas.microsoft.com/office/powerpoint/2010/main" val="1328024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8208DD2-D15B-EB13-A669-52D8DDEA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3F058AF6-E2A2-9494-E357-68E816C7CD8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3" y="403309"/>
            <a:ext cx="7861781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Priorisation - </a:t>
            </a: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Attributs caractérisant les profils acceptés ?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F032DAE2-CA3D-D521-C8E6-D584025427E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73B25949-A3D7-B0B5-4106-F9E72DE44D3B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2D1AE025-2DAD-F822-0FBF-FD352D6CF8CD}"/>
              </a:ext>
            </a:extLst>
          </p:cNvPr>
          <p:cNvSpPr/>
          <p:nvPr/>
        </p:nvSpPr>
        <p:spPr>
          <a:xfrm>
            <a:off x="311700" y="3696985"/>
            <a:ext cx="8686385" cy="115310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B11BDC3C-FF81-C8DC-561E-2B21D1EC2FC4}"/>
              </a:ext>
            </a:extLst>
          </p:cNvPr>
          <p:cNvSpPr txBox="1">
            <a:spLocks/>
          </p:cNvSpPr>
          <p:nvPr/>
        </p:nvSpPr>
        <p:spPr>
          <a:xfrm>
            <a:off x="311700" y="3696985"/>
            <a:ext cx="8686385" cy="1153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050" b="1" dirty="0"/>
              <a:t>Question : </a:t>
            </a:r>
            <a:r>
              <a:rPr lang="fr-FR" sz="1050" dirty="0"/>
              <a:t>Sur quels critères faut-il miser ?</a:t>
            </a:r>
          </a:p>
          <a:p>
            <a:pPr marL="114300" indent="0">
              <a:buSzPct val="100000"/>
              <a:buNone/>
            </a:pPr>
            <a:r>
              <a:rPr lang="fr-FR" sz="1050" b="1" dirty="0" err="1"/>
              <a:t>Visulisation</a:t>
            </a:r>
            <a:r>
              <a:rPr lang="fr-FR" sz="1050" b="1" dirty="0"/>
              <a:t> : </a:t>
            </a:r>
            <a:r>
              <a:rPr lang="fr-FR" sz="1050" dirty="0"/>
              <a:t>Ce graphique présente la corrélation entre les notes attribuées aux différents attributs et la décision d’accepter un second rendez-vous.</a:t>
            </a:r>
          </a:p>
          <a:p>
            <a:pPr marL="114300" indent="0">
              <a:buSzPct val="100000"/>
              <a:buNone/>
            </a:pPr>
            <a:endParaRPr lang="fr-FR" sz="500" dirty="0"/>
          </a:p>
          <a:p>
            <a:pPr marL="114300" indent="0">
              <a:buSzPct val="100000"/>
              <a:buNone/>
            </a:pPr>
            <a:r>
              <a:rPr lang="fr-FR" sz="1100" b="1" dirty="0">
                <a:solidFill>
                  <a:srgbClr val="0070C0"/>
                </a:solidFill>
              </a:rPr>
              <a:t>Insight : </a:t>
            </a:r>
            <a:r>
              <a:rPr lang="fr-FR" sz="1100" dirty="0"/>
              <a:t>L’attribut "</a:t>
            </a:r>
            <a:r>
              <a:rPr lang="fr-FR" sz="1100" dirty="0" err="1"/>
              <a:t>attractiveness</a:t>
            </a:r>
            <a:r>
              <a:rPr lang="fr-FR" sz="1100" dirty="0"/>
              <a:t>" présente la corrélation la plus élevée avec la décision, suivi par les critères "fun" et "</a:t>
            </a:r>
            <a:r>
              <a:rPr lang="fr-FR" sz="1100" dirty="0" err="1"/>
              <a:t>shared</a:t>
            </a:r>
            <a:r>
              <a:rPr lang="fr-FR" sz="1100" dirty="0"/>
              <a:t> </a:t>
            </a:r>
            <a:r>
              <a:rPr lang="fr-FR" sz="1100" dirty="0" err="1"/>
              <a:t>interests</a:t>
            </a:r>
            <a:r>
              <a:rPr lang="fr-FR" sz="1100" dirty="0"/>
              <a:t>". Les autres attributs (intelligence, sincérité, ambition) montrent une association positive mais plus modérée.</a:t>
            </a:r>
          </a:p>
        </p:txBody>
      </p:sp>
      <p:pic>
        <p:nvPicPr>
          <p:cNvPr id="6" name="Image 5" descr="Une image contenant texte, capture d’écran, Rectangle, diagramme&#10;&#10;Le contenu généré par l’IA peut être incorrect.">
            <a:extLst>
              <a:ext uri="{FF2B5EF4-FFF2-40B4-BE49-F238E27FC236}">
                <a16:creationId xmlns:a16="http://schemas.microsoft.com/office/drawing/2014/main" id="{9CBF50DA-FD64-C920-0AE8-855ED4DB8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663" y="973498"/>
            <a:ext cx="6543454" cy="2650667"/>
          </a:xfrm>
          <a:prstGeom prst="rect">
            <a:avLst/>
          </a:prstGeom>
          <a:solidFill>
            <a:srgbClr val="E4E9EB"/>
          </a:solidFill>
          <a:ln w="9525">
            <a:solidFill>
              <a:srgbClr val="E4E9EB"/>
            </a:solidFill>
          </a:ln>
        </p:spPr>
      </p:pic>
    </p:spTree>
    <p:extLst>
      <p:ext uri="{BB962C8B-B14F-4D97-AF65-F5344CB8AC3E}">
        <p14:creationId xmlns:p14="http://schemas.microsoft.com/office/powerpoint/2010/main" val="3340924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DBFDBD45-9B9D-B01C-EA19-0211185C9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0CA8088E-9917-8491-1C19-E4E7C54D47D8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3" y="403309"/>
            <a:ext cx="7861781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Analyse temporalité - Ordre du speed date ?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8CD1195A-3D5A-5B79-BD55-DEAC7CCB143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390E4D82-94B7-46EC-7417-C77B8E432B24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467E791E-B363-7C3A-55C6-6905A951372E}"/>
              </a:ext>
            </a:extLst>
          </p:cNvPr>
          <p:cNvSpPr/>
          <p:nvPr/>
        </p:nvSpPr>
        <p:spPr>
          <a:xfrm>
            <a:off x="311700" y="3696985"/>
            <a:ext cx="8686385" cy="115310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62694F0D-DE4A-401A-9291-67E22B082B37}"/>
              </a:ext>
            </a:extLst>
          </p:cNvPr>
          <p:cNvSpPr txBox="1">
            <a:spLocks/>
          </p:cNvSpPr>
          <p:nvPr/>
        </p:nvSpPr>
        <p:spPr>
          <a:xfrm>
            <a:off x="311700" y="3696985"/>
            <a:ext cx="8686385" cy="1153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050" b="1" dirty="0"/>
              <a:t>Question : </a:t>
            </a:r>
            <a:r>
              <a:rPr lang="fr-FR" sz="1050" dirty="0"/>
              <a:t>La fatigue ou l’effet contraste influencent-ils la décision ?</a:t>
            </a:r>
          </a:p>
          <a:p>
            <a:pPr marL="114300" indent="0">
              <a:buSzPct val="100000"/>
              <a:buNone/>
            </a:pPr>
            <a:r>
              <a:rPr lang="fr-FR" sz="1050" b="1" dirty="0" err="1"/>
              <a:t>Visulisation</a:t>
            </a:r>
            <a:r>
              <a:rPr lang="fr-FR" sz="1050" b="1" dirty="0"/>
              <a:t> : </a:t>
            </a:r>
            <a:r>
              <a:rPr lang="fr-FR" sz="1050" dirty="0"/>
              <a:t>Ce graphique présente le taux moyen de décisions positives en fonction de l’ordre du speed date au cours de la soirée.</a:t>
            </a:r>
          </a:p>
          <a:p>
            <a:pPr marL="114300" indent="0">
              <a:buSzPct val="100000"/>
              <a:buNone/>
            </a:pPr>
            <a:endParaRPr lang="fr-FR" sz="500" dirty="0"/>
          </a:p>
          <a:p>
            <a:pPr marL="114300" indent="0">
              <a:buSzPct val="100000"/>
              <a:buNone/>
            </a:pPr>
            <a:r>
              <a:rPr lang="fr-FR" sz="1100" b="1" dirty="0">
                <a:solidFill>
                  <a:srgbClr val="0070C0"/>
                </a:solidFill>
              </a:rPr>
              <a:t>Insight : </a:t>
            </a:r>
            <a:r>
              <a:rPr lang="fr-FR" sz="1100" dirty="0"/>
              <a:t>n observe un taux de “YES” légèrement plus élevé lors des premiers rendez-vous, suivi d’une stabilisation voire d’une légère baisse au fil de la soirée. Cet effet reste modéré comparé à l’impact des attributs perçus du partenaire mais pourrait suggérer que des facteurs contextuels tels que la fatigue ou l’effet de comparaison influencent la décision.</a:t>
            </a:r>
          </a:p>
        </p:txBody>
      </p:sp>
      <p:pic>
        <p:nvPicPr>
          <p:cNvPr id="5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181F4ADC-AAB2-9E84-66BD-92645BCC43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518"/>
          <a:stretch>
            <a:fillRect/>
          </a:stretch>
        </p:blipFill>
        <p:spPr>
          <a:xfrm>
            <a:off x="1128196" y="936409"/>
            <a:ext cx="6984308" cy="2667359"/>
          </a:xfrm>
          <a:prstGeom prst="rect">
            <a:avLst/>
          </a:prstGeom>
          <a:solidFill>
            <a:srgbClr val="E4E9EB"/>
          </a:solidFill>
          <a:ln w="9525">
            <a:solidFill>
              <a:srgbClr val="E4E9EB"/>
            </a:solidFill>
          </a:ln>
        </p:spPr>
      </p:pic>
    </p:spTree>
    <p:extLst>
      <p:ext uri="{BB962C8B-B14F-4D97-AF65-F5344CB8AC3E}">
        <p14:creationId xmlns:p14="http://schemas.microsoft.com/office/powerpoint/2010/main" val="2812609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E6BA6628-0D72-AFDE-BEEE-CA9E09819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969E2D36-06A7-779E-A142-439E11FCA5C4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3" y="403309"/>
            <a:ext cx="7861781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Conclusion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485B4AA4-8C8A-9EDB-B721-1924570206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8CB7C08B-B194-6108-E4F7-363CE385BC3D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69;p3">
            <a:extLst>
              <a:ext uri="{FF2B5EF4-FFF2-40B4-BE49-F238E27FC236}">
                <a16:creationId xmlns:a16="http://schemas.microsoft.com/office/drawing/2014/main" id="{CAC3447D-ED63-98EC-42AE-1FD42EF3BDA0}"/>
              </a:ext>
            </a:extLst>
          </p:cNvPr>
          <p:cNvSpPr/>
          <p:nvPr/>
        </p:nvSpPr>
        <p:spPr>
          <a:xfrm>
            <a:off x="1260039" y="4065900"/>
            <a:ext cx="7200567" cy="6913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CB39ADEE-0B21-7083-2CD9-E9B1E448BBCB}"/>
              </a:ext>
            </a:extLst>
          </p:cNvPr>
          <p:cNvSpPr/>
          <p:nvPr/>
        </p:nvSpPr>
        <p:spPr>
          <a:xfrm>
            <a:off x="600657" y="2049449"/>
            <a:ext cx="541478" cy="53141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A5AFF2F0-1571-8F8C-05E9-F06D7C01078D}"/>
              </a:ext>
            </a:extLst>
          </p:cNvPr>
          <p:cNvSpPr/>
          <p:nvPr/>
        </p:nvSpPr>
        <p:spPr>
          <a:xfrm>
            <a:off x="600657" y="4132727"/>
            <a:ext cx="541478" cy="53141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B5D51CAA-FC22-3432-0DC6-6E99CC96CA9E}"/>
              </a:ext>
            </a:extLst>
          </p:cNvPr>
          <p:cNvSpPr/>
          <p:nvPr/>
        </p:nvSpPr>
        <p:spPr>
          <a:xfrm>
            <a:off x="600657" y="3147201"/>
            <a:ext cx="541478" cy="53141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11" name="Google Shape;69;p3">
            <a:extLst>
              <a:ext uri="{FF2B5EF4-FFF2-40B4-BE49-F238E27FC236}">
                <a16:creationId xmlns:a16="http://schemas.microsoft.com/office/drawing/2014/main" id="{983A2F5C-7BDE-FAA9-1539-8A9488C7659F}"/>
              </a:ext>
            </a:extLst>
          </p:cNvPr>
          <p:cNvSpPr/>
          <p:nvPr/>
        </p:nvSpPr>
        <p:spPr>
          <a:xfrm>
            <a:off x="1260039" y="2026822"/>
            <a:ext cx="7200567" cy="6913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69;p3">
            <a:extLst>
              <a:ext uri="{FF2B5EF4-FFF2-40B4-BE49-F238E27FC236}">
                <a16:creationId xmlns:a16="http://schemas.microsoft.com/office/drawing/2014/main" id="{60E25C6B-F08C-F101-9B11-7254129CAED8}"/>
              </a:ext>
            </a:extLst>
          </p:cNvPr>
          <p:cNvSpPr/>
          <p:nvPr/>
        </p:nvSpPr>
        <p:spPr>
          <a:xfrm>
            <a:off x="1260039" y="3067224"/>
            <a:ext cx="7200567" cy="6913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73;p3">
            <a:extLst>
              <a:ext uri="{FF2B5EF4-FFF2-40B4-BE49-F238E27FC236}">
                <a16:creationId xmlns:a16="http://schemas.microsoft.com/office/drawing/2014/main" id="{0FF22FC2-4E60-E829-F03C-A8108E8EF65F}"/>
              </a:ext>
            </a:extLst>
          </p:cNvPr>
          <p:cNvSpPr txBox="1">
            <a:spLocks/>
          </p:cNvSpPr>
          <p:nvPr/>
        </p:nvSpPr>
        <p:spPr>
          <a:xfrm>
            <a:off x="1142135" y="3951049"/>
            <a:ext cx="7270345" cy="994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endParaRPr lang="fr-FR" sz="600" dirty="0"/>
          </a:p>
          <a:p>
            <a:pPr marL="114300" indent="0">
              <a:buSzPct val="100000"/>
              <a:buNone/>
            </a:pPr>
            <a:r>
              <a:rPr lang="fr-FR" sz="1200" dirty="0"/>
              <a:t>L’analyse montre que la décision d’accepter un second rendez-vous dépend surtout </a:t>
            </a:r>
            <a:r>
              <a:rPr lang="fr-FR" sz="1200" b="1" dirty="0"/>
              <a:t>de ce que la personne ressent pendant l’échange et de l’impression générale laissée par son/sa partenaire. </a:t>
            </a:r>
          </a:p>
        </p:txBody>
      </p:sp>
      <p:sp>
        <p:nvSpPr>
          <p:cNvPr id="14" name="Google Shape;73;p3">
            <a:extLst>
              <a:ext uri="{FF2B5EF4-FFF2-40B4-BE49-F238E27FC236}">
                <a16:creationId xmlns:a16="http://schemas.microsoft.com/office/drawing/2014/main" id="{8F9B7EB8-A221-36E7-859F-E67F86B5776A}"/>
              </a:ext>
            </a:extLst>
          </p:cNvPr>
          <p:cNvSpPr txBox="1">
            <a:spLocks/>
          </p:cNvSpPr>
          <p:nvPr/>
        </p:nvSpPr>
        <p:spPr>
          <a:xfrm>
            <a:off x="1192663" y="2083683"/>
            <a:ext cx="7164467" cy="6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200" dirty="0"/>
              <a:t>Les critères comme </a:t>
            </a:r>
            <a:r>
              <a:rPr lang="fr-FR" sz="1200" b="1" dirty="0"/>
              <a:t>l’</a:t>
            </a:r>
            <a:r>
              <a:rPr lang="fr-FR" sz="1200" b="1" dirty="0" err="1"/>
              <a:t>attractiveness</a:t>
            </a:r>
            <a:r>
              <a:rPr lang="fr-FR" sz="1200" b="1" dirty="0"/>
              <a:t>, les intérêts partagés et le fun </a:t>
            </a:r>
            <a:r>
              <a:rPr lang="fr-FR" sz="1200" dirty="0"/>
              <a:t>sont ceux qui font le plus souvent basculer la </a:t>
            </a:r>
            <a:r>
              <a:rPr lang="fr-FR" sz="1200" b="1" dirty="0"/>
              <a:t>décision vers un “oui”</a:t>
            </a:r>
            <a:r>
              <a:rPr lang="fr-FR" sz="1200" dirty="0"/>
              <a:t>.</a:t>
            </a:r>
          </a:p>
        </p:txBody>
      </p:sp>
      <p:sp>
        <p:nvSpPr>
          <p:cNvPr id="8" name="Google Shape;73;p3">
            <a:extLst>
              <a:ext uri="{FF2B5EF4-FFF2-40B4-BE49-F238E27FC236}">
                <a16:creationId xmlns:a16="http://schemas.microsoft.com/office/drawing/2014/main" id="{7D04C777-50BF-3C29-6CCE-5AFD870E9DC0}"/>
              </a:ext>
            </a:extLst>
          </p:cNvPr>
          <p:cNvSpPr txBox="1">
            <a:spLocks/>
          </p:cNvSpPr>
          <p:nvPr/>
        </p:nvSpPr>
        <p:spPr>
          <a:xfrm>
            <a:off x="1192663" y="3159151"/>
            <a:ext cx="7164467" cy="69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200" dirty="0"/>
              <a:t>On observe aussi un </a:t>
            </a:r>
            <a:r>
              <a:rPr lang="fr-FR" sz="1200" b="1" dirty="0"/>
              <a:t>effet plus léger lié au contexte</a:t>
            </a:r>
            <a:r>
              <a:rPr lang="fr-FR" sz="1200" dirty="0"/>
              <a:t>, par exemple l’ordre des rendez-vous dans la soirée, qui peut jouer un rôle.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BF4B775D-BF72-B539-2FA0-FC6E3F16607A}"/>
              </a:ext>
            </a:extLst>
          </p:cNvPr>
          <p:cNvSpPr/>
          <p:nvPr/>
        </p:nvSpPr>
        <p:spPr>
          <a:xfrm>
            <a:off x="600657" y="1074311"/>
            <a:ext cx="541478" cy="53141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16" name="Google Shape;69;p3">
            <a:extLst>
              <a:ext uri="{FF2B5EF4-FFF2-40B4-BE49-F238E27FC236}">
                <a16:creationId xmlns:a16="http://schemas.microsoft.com/office/drawing/2014/main" id="{766AC692-4867-5DCE-34BF-9559DFFCEE1A}"/>
              </a:ext>
            </a:extLst>
          </p:cNvPr>
          <p:cNvSpPr/>
          <p:nvPr/>
        </p:nvSpPr>
        <p:spPr>
          <a:xfrm>
            <a:off x="1260039" y="986422"/>
            <a:ext cx="7200567" cy="6913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73;p3">
            <a:extLst>
              <a:ext uri="{FF2B5EF4-FFF2-40B4-BE49-F238E27FC236}">
                <a16:creationId xmlns:a16="http://schemas.microsoft.com/office/drawing/2014/main" id="{233DCE8E-4C8D-04FC-E215-599C1533E0D6}"/>
              </a:ext>
            </a:extLst>
          </p:cNvPr>
          <p:cNvSpPr txBox="1">
            <a:spLocks/>
          </p:cNvSpPr>
          <p:nvPr/>
        </p:nvSpPr>
        <p:spPr>
          <a:xfrm>
            <a:off x="1192663" y="1039262"/>
            <a:ext cx="7267943" cy="69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200" dirty="0"/>
              <a:t>L’analyse de la variable </a:t>
            </a:r>
            <a:r>
              <a:rPr lang="fr-FR" sz="1200" dirty="0" err="1"/>
              <a:t>dec</a:t>
            </a:r>
            <a:r>
              <a:rPr lang="fr-FR" sz="1200" dirty="0"/>
              <a:t> (</a:t>
            </a:r>
            <a:r>
              <a:rPr lang="fr-FR" sz="1200" b="1" dirty="0"/>
              <a:t>la décision individuelle</a:t>
            </a:r>
            <a:r>
              <a:rPr lang="fr-FR" sz="1200" dirty="0"/>
              <a:t>) plutôt que </a:t>
            </a:r>
            <a:r>
              <a:rPr lang="fr-FR" sz="1200" b="1" dirty="0"/>
              <a:t>match permet de comprendre ce qui pousse une personne à dire “oui”, </a:t>
            </a:r>
            <a:r>
              <a:rPr lang="fr-FR" sz="1200" dirty="0"/>
              <a:t>sans mélanger les décisions des deux participants.</a:t>
            </a:r>
          </a:p>
        </p:txBody>
      </p:sp>
    </p:spTree>
    <p:extLst>
      <p:ext uri="{BB962C8B-B14F-4D97-AF65-F5344CB8AC3E}">
        <p14:creationId xmlns:p14="http://schemas.microsoft.com/office/powerpoint/2010/main" val="133680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>
            <a:spLocks noGrp="1"/>
          </p:cNvSpPr>
          <p:nvPr>
            <p:ph type="ctrTitle" idx="4294967295"/>
          </p:nvPr>
        </p:nvSpPr>
        <p:spPr>
          <a:xfrm>
            <a:off x="1089725" y="1970775"/>
            <a:ext cx="6393116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Merci pour votre attention</a:t>
            </a:r>
            <a:b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</a:t>
            </a:r>
            <a:r>
              <a:rPr lang="fr" sz="3600" b="0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questions ?</a:t>
            </a:r>
            <a:endParaRPr sz="3600" b="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88" name="Google Shape;18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1676</TotalTime>
  <Words>789</Words>
  <Application>Microsoft Office PowerPoint</Application>
  <PresentationFormat>Affichage à l'écran (16:9)</PresentationFormat>
  <Paragraphs>54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Inter SemiBold</vt:lpstr>
      <vt:lpstr>Inter Medium</vt:lpstr>
      <vt:lpstr>Arial</vt:lpstr>
      <vt:lpstr>Simple Light</vt:lpstr>
      <vt:lpstr>1_Simple Light</vt:lpstr>
      <vt:lpstr>Speed Dating </vt:lpstr>
      <vt:lpstr>Contexte et enjeu</vt:lpstr>
      <vt:lpstr>Baseline - Distribution des décisions</vt:lpstr>
      <vt:lpstr>Segmentation - Taux de YES par genre</vt:lpstr>
      <vt:lpstr>Analyse centrale - Impact des attributs (YES vs NO)</vt:lpstr>
      <vt:lpstr>Analyse centrale - Impact des attributs (YES vs NO)</vt:lpstr>
      <vt:lpstr>Priorisation - Attributs caractérisant les profils acceptés ?</vt:lpstr>
      <vt:lpstr>Analyse temporalité - Ordre du speed date ?</vt:lpstr>
      <vt:lpstr>Conclusion</vt:lpstr>
      <vt:lpstr>Merci pour votre attention Des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Jean-Yves Vuillequez</dc:creator>
  <cp:lastModifiedBy>Jean-Yves Vuillequez</cp:lastModifiedBy>
  <cp:revision>237</cp:revision>
  <dcterms:modified xsi:type="dcterms:W3CDTF">2026-02-11T16:05:51Z</dcterms:modified>
</cp:coreProperties>
</file>